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font" Target="fonts/Play-regular.fntdata"/><Relationship Id="rId10" Type="http://schemas.openxmlformats.org/officeDocument/2006/relationships/slide" Target="slides/slide2.xml"/><Relationship Id="rId21" Type="http://schemas.openxmlformats.org/officeDocument/2006/relationships/slide" Target="slides/slide13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23" Type="http://schemas.openxmlformats.org/officeDocument/2006/relationships/font" Target="fonts/Play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B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B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4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B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9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B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0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l-B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 txBox="1"/>
          <p:nvPr>
            <p:ph idx="1"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:notes"/>
          <p:cNvSpPr/>
          <p:nvPr>
            <p:ph idx="2" type="sldImg"/>
          </p:nvPr>
        </p:nvSpPr>
        <p:spPr>
          <a:xfrm>
            <a:off x="685800" y="1143000"/>
            <a:ext cx="548640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6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3" name="Google Shape;243;p5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1" name="Google Shape;251;p6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2" name="Google Shape;252;p6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6" name="Google Shape;256;p6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7" name="Google Shape;257;p6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1" name="Google Shape;261;p6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2" name="Google Shape;262;p6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6" name="Google Shape;266;p6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0" name="Google Shape;270;p6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1" name="Google Shape;271;p6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2" name="Google Shape;272;p6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6" name="Google Shape;276;p6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7" name="Google Shape;277;p6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6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9" name="Google Shape;279;p6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0" name="Google Shape;280;p6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>
            <p:ph type="title"/>
          </p:nvPr>
        </p:nvSpPr>
        <p:spPr>
          <a:xfrm>
            <a:off x="831960" y="1709640"/>
            <a:ext cx="10515600" cy="2852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4" name="Google Shape;174;p40"/>
          <p:cNvSpPr txBox="1"/>
          <p:nvPr>
            <p:ph idx="1" type="body"/>
          </p:nvPr>
        </p:nvSpPr>
        <p:spPr>
          <a:xfrm>
            <a:off x="831960" y="4589640"/>
            <a:ext cx="10515600" cy="150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5" name="Google Shape;175;p40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40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7" name="Google Shape;177;p40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8" name="Google Shape;228;p53"/>
          <p:cNvSpPr txBox="1"/>
          <p:nvPr>
            <p:ph idx="2" type="title"/>
          </p:nvPr>
        </p:nvSpPr>
        <p:spPr>
          <a:xfrm>
            <a:off x="838080" y="1825560"/>
            <a:ext cx="518148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9" name="Google Shape;229;p53"/>
          <p:cNvSpPr txBox="1"/>
          <p:nvPr>
            <p:ph idx="3" type="title"/>
          </p:nvPr>
        </p:nvSpPr>
        <p:spPr>
          <a:xfrm>
            <a:off x="6172200" y="1825560"/>
            <a:ext cx="518148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0" name="Google Shape;230;p53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1" name="Google Shape;231;p53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2" name="Google Shape;232;p53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pubmed.ncbi.nlm.nih.gov/10796827/" TargetMode="External"/><Relationship Id="rId10" Type="http://schemas.openxmlformats.org/officeDocument/2006/relationships/hyperlink" Target="https://www.sciencedirect.com/science/article/pii/S0001457518301301" TargetMode="External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tbel.fgov.be/nl/open-data/verkeersslachtoffers-2024" TargetMode="External"/><Relationship Id="rId4" Type="http://schemas.openxmlformats.org/officeDocument/2006/relationships/hyperlink" Target="https://statbel.fgov.be/nl/open-data/verkeersslachtoffers-2024" TargetMode="External"/><Relationship Id="rId9" Type="http://schemas.openxmlformats.org/officeDocument/2006/relationships/hyperlink" Target="https://www.sciencedirect.com/science/article/pii/S000145751400061X?via%3Dihub" TargetMode="External"/><Relationship Id="rId5" Type="http://schemas.openxmlformats.org/officeDocument/2006/relationships/hyperlink" Target="https://pure.rug.nl/ws/portalfiles/portal/1229137185/2024-05-31_WesterhuisDubbeldamDeWaard_Rapport2_KritiekeFietsongevallen.pdf" TargetMode="External"/><Relationship Id="rId6" Type="http://schemas.openxmlformats.org/officeDocument/2006/relationships/hyperlink" Target="https://pmc.ncbi.nlm.nih.gov/articles/PMC4375775/?fbclid=IwY2xjawOeiItleHRuA2FlbQIxMABicmlkETFYbGFaaVNKbERkWUxPME9Yc3J0YwZhcHBfaWQQMjIyMDM5MTc4ODIwMDg5MgABHpf-4B_LkatSYEzsN_dPPE4x_Hh-0Exp9zvu4UMgMDQ62EdI8uGf05emdJSN_aem_G1rKxQYDPRnqT6F_txQiTw" TargetMode="External"/><Relationship Id="rId7" Type="http://schemas.openxmlformats.org/officeDocument/2006/relationships/hyperlink" Target="https://pmc.ncbi.nlm.nih.gov/articles/PMC1067536/" TargetMode="External"/><Relationship Id="rId8" Type="http://schemas.openxmlformats.org/officeDocument/2006/relationships/hyperlink" Target="https://pmc.ncbi.nlm.nih.gov/articles/PMC12607080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6"/>
          <p:cNvSpPr/>
          <p:nvPr/>
        </p:nvSpPr>
        <p:spPr>
          <a:xfrm>
            <a:off x="422640" y="373680"/>
            <a:ext cx="3814920" cy="61059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C2F1C8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86" name="Google Shape;28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080" y="983160"/>
            <a:ext cx="9984600" cy="5212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66"/>
          <p:cNvCxnSpPr/>
          <p:nvPr/>
        </p:nvCxnSpPr>
        <p:spPr>
          <a:xfrm flipH="1" rot="10800000">
            <a:off x="727560" y="720360"/>
            <a:ext cx="360" cy="556272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88" name="Google Shape;288;p66"/>
          <p:cNvCxnSpPr/>
          <p:nvPr/>
        </p:nvCxnSpPr>
        <p:spPr>
          <a:xfrm flipH="1">
            <a:off x="727560" y="720360"/>
            <a:ext cx="105994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289" name="Google Shape;28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280" y="6234840"/>
            <a:ext cx="3785400" cy="3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6"/>
          <p:cNvSpPr txBox="1"/>
          <p:nvPr/>
        </p:nvSpPr>
        <p:spPr>
          <a:xfrm>
            <a:off x="7811640" y="2465640"/>
            <a:ext cx="35150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-BE" sz="32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Verkeersveiligheid: </a:t>
            </a:r>
            <a:br>
              <a:rPr b="0" i="0" lang="nl-BE" sz="1800" u="none" cap="none" strike="noStrike"/>
            </a:br>
            <a:r>
              <a:rPr b="1" i="1" lang="nl-BE" sz="32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Fietshelm &amp;                Risicoperceptie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6"/>
          <p:cNvSpPr txBox="1"/>
          <p:nvPr/>
        </p:nvSpPr>
        <p:spPr>
          <a:xfrm>
            <a:off x="7811640" y="5450760"/>
            <a:ext cx="2949840" cy="72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Doelgroep: 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i="0" lang="nl-BE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Jongeren van 12-14 jaar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erste hulp bij fietsongevallen - Eenlevenlangsporten" id="292" name="Google Shape;29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80" y="1778400"/>
            <a:ext cx="3303720" cy="1735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etsongeluk en letselschade claimen: wat moet je weten?" id="293" name="Google Shape;293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880" y="3707640"/>
            <a:ext cx="3303720" cy="1877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7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C2F1C8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00" name="Google Shape;30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67"/>
          <p:cNvSpPr txBox="1"/>
          <p:nvPr/>
        </p:nvSpPr>
        <p:spPr>
          <a:xfrm>
            <a:off x="275400" y="2763000"/>
            <a:ext cx="3785400" cy="9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4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INHOUD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7"/>
          <p:cNvSpPr txBox="1"/>
          <p:nvPr/>
        </p:nvSpPr>
        <p:spPr>
          <a:xfrm>
            <a:off x="4336200" y="377280"/>
            <a:ext cx="7787160" cy="58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Feiten over fietsongevallen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Hoe vaak en wanneer gebeuren ze? (cijfers)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Typische letsels zonder fietshelm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Welke verwondingen komen het meest voor? 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Hoe werkt een fietshelm?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Hoe beschermt een helm je hoofd bij een val? 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Bewijs dat een fietshelm werkt (cijfers)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 tonen onderzoeken aan?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5. Hoe zet je een fietshelm goed op?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Stap voor stap de juiste pasvorm instellen (correct dragen / goed afstellen)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Verkeersregels voor fietsers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belangrijkste regels voor veilig fietsen (wetgeving / verkeersafspraken)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nl-BE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7. Praktische tips die je elke dag kan gebruiken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Eenvoudige gewoontes voor meer veiligheid (dagelijkse tips / bruikbare adviezen)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67"/>
          <p:cNvCxnSpPr/>
          <p:nvPr/>
        </p:nvCxnSpPr>
        <p:spPr>
          <a:xfrm>
            <a:off x="727560" y="776880"/>
            <a:ext cx="360" cy="556524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4" name="Google Shape;304;p67"/>
          <p:cNvCxnSpPr/>
          <p:nvPr/>
        </p:nvCxnSpPr>
        <p:spPr>
          <a:xfrm flipH="1">
            <a:off x="727560" y="6341760"/>
            <a:ext cx="104716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buitenshuis, weg, Fietswiel, wiel&#10;&#10;Door AI gegenereerde inhoud is mogelijk onjuist." id="309" name="Google Shape;30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4680" y="0"/>
            <a:ext cx="28270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8"/>
          <p:cNvSpPr txBox="1"/>
          <p:nvPr/>
        </p:nvSpPr>
        <p:spPr>
          <a:xfrm>
            <a:off x="1833840" y="434880"/>
            <a:ext cx="5255280" cy="58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Feiten over fietsongevallen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68"/>
          <p:cNvCxnSpPr/>
          <p:nvPr/>
        </p:nvCxnSpPr>
        <p:spPr>
          <a:xfrm>
            <a:off x="1966320" y="1012680"/>
            <a:ext cx="488700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2" name="Google Shape;312;p68"/>
          <p:cNvSpPr/>
          <p:nvPr/>
        </p:nvSpPr>
        <p:spPr>
          <a:xfrm>
            <a:off x="265320" y="3266280"/>
            <a:ext cx="1936800" cy="3262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3" name="Google Shape;313;p68"/>
          <p:cNvSpPr/>
          <p:nvPr/>
        </p:nvSpPr>
        <p:spPr>
          <a:xfrm>
            <a:off x="2490120" y="3266280"/>
            <a:ext cx="1936800" cy="3262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4" name="Google Shape;314;p68"/>
          <p:cNvSpPr/>
          <p:nvPr/>
        </p:nvSpPr>
        <p:spPr>
          <a:xfrm>
            <a:off x="4655520" y="3266280"/>
            <a:ext cx="1936800" cy="3257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5" name="Google Shape;315;p68"/>
          <p:cNvSpPr/>
          <p:nvPr/>
        </p:nvSpPr>
        <p:spPr>
          <a:xfrm>
            <a:off x="619560" y="1243800"/>
            <a:ext cx="7860960" cy="1647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16" name="Google Shape;31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8"/>
          <p:cNvSpPr/>
          <p:nvPr/>
        </p:nvSpPr>
        <p:spPr>
          <a:xfrm>
            <a:off x="353880" y="334944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8"/>
          <p:cNvSpPr/>
          <p:nvPr/>
        </p:nvSpPr>
        <p:spPr>
          <a:xfrm>
            <a:off x="2571120" y="334944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8"/>
          <p:cNvSpPr/>
          <p:nvPr/>
        </p:nvSpPr>
        <p:spPr>
          <a:xfrm>
            <a:off x="4749120" y="334944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8"/>
          <p:cNvSpPr txBox="1"/>
          <p:nvPr/>
        </p:nvSpPr>
        <p:spPr>
          <a:xfrm>
            <a:off x="786600" y="1661760"/>
            <a:ext cx="7521840" cy="9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Gemiddeld raken jaarlijks duizenden jongeren in Vlaanderen betrokken bij fietsongevallen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8"/>
          <p:cNvSpPr txBox="1"/>
          <p:nvPr/>
        </p:nvSpPr>
        <p:spPr>
          <a:xfrm>
            <a:off x="2588400" y="3889440"/>
            <a:ext cx="1740240" cy="253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8"/>
          <p:cNvSpPr txBox="1"/>
          <p:nvPr/>
        </p:nvSpPr>
        <p:spPr>
          <a:xfrm>
            <a:off x="4753800" y="3883680"/>
            <a:ext cx="1740240" cy="253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8"/>
          <p:cNvSpPr txBox="1"/>
          <p:nvPr/>
        </p:nvSpPr>
        <p:spPr>
          <a:xfrm>
            <a:off x="265320" y="3883680"/>
            <a:ext cx="1936800" cy="221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ERNST VAN EEN LETSEL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meeste hoofdletsels die kinderen met een helm oplopen, zijn van lichte ernst.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8"/>
          <p:cNvSpPr txBox="1"/>
          <p:nvPr/>
        </p:nvSpPr>
        <p:spPr>
          <a:xfrm>
            <a:off x="2482560" y="3888720"/>
            <a:ext cx="1936800" cy="219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LOCATIE VAN EEN FIETSONGEVAL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Veel fietsongevallen (88%) gebeuren dicht bij huis (mediaan = 200 meter).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8"/>
          <p:cNvSpPr txBox="1"/>
          <p:nvPr/>
        </p:nvSpPr>
        <p:spPr>
          <a:xfrm>
            <a:off x="4660560" y="3883680"/>
            <a:ext cx="1936800" cy="24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 NA EEN FIETSONGEVAL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Een letsel als gevolg van een fietsongeval kan ook leiden tot veranderingen in fietsgedrag (minder fietsen).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8"/>
          <p:cNvSpPr/>
          <p:nvPr/>
        </p:nvSpPr>
        <p:spPr>
          <a:xfrm>
            <a:off x="6852960" y="3261240"/>
            <a:ext cx="1936800" cy="3257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27" name="Google Shape;327;p68"/>
          <p:cNvSpPr/>
          <p:nvPr/>
        </p:nvSpPr>
        <p:spPr>
          <a:xfrm>
            <a:off x="6946560" y="335448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8"/>
          <p:cNvSpPr txBox="1"/>
          <p:nvPr/>
        </p:nvSpPr>
        <p:spPr>
          <a:xfrm>
            <a:off x="6848280" y="3888720"/>
            <a:ext cx="1936800" cy="267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RISICO VAN HET GESLACHT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2024 vielen er 19 dodelijke slachtoffers bij vrouwen en 58 bij mannen. Daarnaast raakten 3.470 vrouwen en 4.932 mannen lichtgewond.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Fietswiel, wiel, Landvoertuig, voertuig&#10;&#10;Door AI gegenereerde inhoud is mogelijk onjuist." id="334" name="Google Shape;334;p69"/>
          <p:cNvPicPr preferRelativeResize="0"/>
          <p:nvPr/>
        </p:nvPicPr>
        <p:blipFill rotWithShape="1">
          <a:blip r:embed="rId3">
            <a:alphaModFix/>
          </a:blip>
          <a:srcRect b="0" l="10484" r="9954" t="0"/>
          <a:stretch/>
        </p:blipFill>
        <p:spPr>
          <a:xfrm>
            <a:off x="128880" y="1385280"/>
            <a:ext cx="3272040" cy="41648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69"/>
          <p:cNvSpPr txBox="1"/>
          <p:nvPr/>
        </p:nvSpPr>
        <p:spPr>
          <a:xfrm>
            <a:off x="4753800" y="43488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Typische letsels zonder fietshelm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69"/>
          <p:cNvCxnSpPr/>
          <p:nvPr/>
        </p:nvCxnSpPr>
        <p:spPr>
          <a:xfrm>
            <a:off x="4945680" y="1012680"/>
            <a:ext cx="6017760" cy="720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7" name="Google Shape;337;p69"/>
          <p:cNvSpPr/>
          <p:nvPr/>
        </p:nvSpPr>
        <p:spPr>
          <a:xfrm>
            <a:off x="4080240" y="1332360"/>
            <a:ext cx="7860960" cy="1647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8" name="Google Shape;338;p69"/>
          <p:cNvSpPr txBox="1"/>
          <p:nvPr/>
        </p:nvSpPr>
        <p:spPr>
          <a:xfrm>
            <a:off x="4218120" y="1582920"/>
            <a:ext cx="7521840" cy="101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impact op het hoofd is de meest kwetsbare factor bij een val, aangezien de hersenen weinig bescherming hebben en zware gevolgen kan ondervinden bij een harde klap.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9"/>
          <p:cNvSpPr/>
          <p:nvPr/>
        </p:nvSpPr>
        <p:spPr>
          <a:xfrm>
            <a:off x="4075560" y="3244680"/>
            <a:ext cx="2777760" cy="31784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Veelvoorkomende gevolgen bij fietsongevallen: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9"/>
          <p:cNvSpPr/>
          <p:nvPr/>
        </p:nvSpPr>
        <p:spPr>
          <a:xfrm>
            <a:off x="9163800" y="3239640"/>
            <a:ext cx="2777760" cy="873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Schedelfracturen            (-breuken)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9"/>
          <p:cNvSpPr/>
          <p:nvPr/>
        </p:nvSpPr>
        <p:spPr>
          <a:xfrm>
            <a:off x="9163800" y="5550120"/>
            <a:ext cx="2777760" cy="873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Bewustzijnsverlies door de letsels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9"/>
          <p:cNvSpPr/>
          <p:nvPr/>
        </p:nvSpPr>
        <p:spPr>
          <a:xfrm>
            <a:off x="9163800" y="4373280"/>
            <a:ext cx="2777760" cy="873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Hersenbloeding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9"/>
          <p:cNvSpPr/>
          <p:nvPr/>
        </p:nvSpPr>
        <p:spPr>
          <a:xfrm>
            <a:off x="7688880" y="3409560"/>
            <a:ext cx="727560" cy="533520"/>
          </a:xfrm>
          <a:custGeom>
            <a:rect b="b" l="l" r="r" t="t"/>
            <a:pathLst>
              <a:path extrusionOk="0" h="1484" w="2023">
                <a:moveTo>
                  <a:pt x="0" y="370"/>
                </a:moveTo>
                <a:lnTo>
                  <a:pt x="1280" y="370"/>
                </a:lnTo>
                <a:lnTo>
                  <a:pt x="1280" y="0"/>
                </a:lnTo>
                <a:lnTo>
                  <a:pt x="2022" y="741"/>
                </a:lnTo>
                <a:lnTo>
                  <a:pt x="1280" y="1483"/>
                </a:lnTo>
                <a:lnTo>
                  <a:pt x="1280" y="1112"/>
                </a:lnTo>
                <a:lnTo>
                  <a:pt x="0" y="1112"/>
                </a:lnTo>
                <a:lnTo>
                  <a:pt x="0" y="370"/>
                </a:lnTo>
              </a:path>
            </a:pathLst>
          </a:custGeom>
          <a:solidFill>
            <a:srgbClr val="FFFFFF"/>
          </a:solidFill>
          <a:ln cap="flat" cmpd="sng" w="507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4" name="Google Shape;344;p69"/>
          <p:cNvSpPr/>
          <p:nvPr/>
        </p:nvSpPr>
        <p:spPr>
          <a:xfrm>
            <a:off x="7688880" y="4543200"/>
            <a:ext cx="727560" cy="533520"/>
          </a:xfrm>
          <a:custGeom>
            <a:rect b="b" l="l" r="r" t="t"/>
            <a:pathLst>
              <a:path extrusionOk="0" h="1484" w="2023">
                <a:moveTo>
                  <a:pt x="0" y="370"/>
                </a:moveTo>
                <a:lnTo>
                  <a:pt x="1280" y="370"/>
                </a:lnTo>
                <a:lnTo>
                  <a:pt x="1280" y="0"/>
                </a:lnTo>
                <a:lnTo>
                  <a:pt x="2022" y="741"/>
                </a:lnTo>
                <a:lnTo>
                  <a:pt x="1280" y="1483"/>
                </a:lnTo>
                <a:lnTo>
                  <a:pt x="1280" y="1112"/>
                </a:lnTo>
                <a:lnTo>
                  <a:pt x="0" y="1112"/>
                </a:lnTo>
                <a:lnTo>
                  <a:pt x="0" y="370"/>
                </a:lnTo>
              </a:path>
            </a:pathLst>
          </a:custGeom>
          <a:solidFill>
            <a:srgbClr val="FFFFFF"/>
          </a:solidFill>
          <a:ln cap="flat" cmpd="sng" w="507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5" name="Google Shape;345;p69"/>
          <p:cNvSpPr/>
          <p:nvPr/>
        </p:nvSpPr>
        <p:spPr>
          <a:xfrm>
            <a:off x="7688880" y="5720040"/>
            <a:ext cx="727560" cy="533520"/>
          </a:xfrm>
          <a:custGeom>
            <a:rect b="b" l="l" r="r" t="t"/>
            <a:pathLst>
              <a:path extrusionOk="0" h="1484" w="2023">
                <a:moveTo>
                  <a:pt x="0" y="370"/>
                </a:moveTo>
                <a:lnTo>
                  <a:pt x="1280" y="370"/>
                </a:lnTo>
                <a:lnTo>
                  <a:pt x="1280" y="0"/>
                </a:lnTo>
                <a:lnTo>
                  <a:pt x="2022" y="741"/>
                </a:lnTo>
                <a:lnTo>
                  <a:pt x="1280" y="1483"/>
                </a:lnTo>
                <a:lnTo>
                  <a:pt x="1280" y="1112"/>
                </a:lnTo>
                <a:lnTo>
                  <a:pt x="0" y="1112"/>
                </a:lnTo>
                <a:lnTo>
                  <a:pt x="0" y="370"/>
                </a:lnTo>
              </a:path>
            </a:pathLst>
          </a:custGeom>
          <a:solidFill>
            <a:srgbClr val="FFFFFF"/>
          </a:solidFill>
          <a:ln cap="flat" cmpd="sng" w="507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46" name="Google Shape;34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sportuitrusting, statief, helm, fiets&#10;&#10;Door AI gegenereerde inhoud is mogelijk onjuist." id="351" name="Google Shape;35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800" y="0"/>
            <a:ext cx="2721960" cy="68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70"/>
          <p:cNvSpPr txBox="1"/>
          <p:nvPr/>
        </p:nvSpPr>
        <p:spPr>
          <a:xfrm>
            <a:off x="1391040" y="43488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Hoe werkt een fietshelm?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70"/>
          <p:cNvSpPr/>
          <p:nvPr/>
        </p:nvSpPr>
        <p:spPr>
          <a:xfrm>
            <a:off x="826560" y="1261080"/>
            <a:ext cx="7860960" cy="1647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5" name="Google Shape;355;p70"/>
          <p:cNvSpPr txBox="1"/>
          <p:nvPr/>
        </p:nvSpPr>
        <p:spPr>
          <a:xfrm>
            <a:off x="996120" y="1423800"/>
            <a:ext cx="7521840" cy="19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Werking zoals een airbag: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Een helm absorbeert energie en werkt als een soort airbag voor het hoofd bij een val, waardoor de impactkracht op de schedel sterk afneemt en blessures worden beperkt.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0"/>
          <p:cNvSpPr/>
          <p:nvPr/>
        </p:nvSpPr>
        <p:spPr>
          <a:xfrm rot="5400000">
            <a:off x="2456280" y="3306960"/>
            <a:ext cx="727560" cy="533520"/>
          </a:xfrm>
          <a:custGeom>
            <a:rect b="b" l="l" r="r" t="t"/>
            <a:pathLst>
              <a:path extrusionOk="0" h="1484" w="2023">
                <a:moveTo>
                  <a:pt x="0" y="370"/>
                </a:moveTo>
                <a:lnTo>
                  <a:pt x="1280" y="370"/>
                </a:lnTo>
                <a:lnTo>
                  <a:pt x="1280" y="0"/>
                </a:lnTo>
                <a:lnTo>
                  <a:pt x="2022" y="741"/>
                </a:lnTo>
                <a:lnTo>
                  <a:pt x="1280" y="1483"/>
                </a:lnTo>
                <a:lnTo>
                  <a:pt x="1280" y="1112"/>
                </a:lnTo>
                <a:lnTo>
                  <a:pt x="0" y="1112"/>
                </a:lnTo>
                <a:lnTo>
                  <a:pt x="0" y="370"/>
                </a:lnTo>
              </a:path>
            </a:pathLst>
          </a:custGeom>
          <a:solidFill>
            <a:srgbClr val="FFFFFF"/>
          </a:solidFill>
          <a:ln cap="flat" cmpd="sng" w="507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7" name="Google Shape;357;p70"/>
          <p:cNvSpPr/>
          <p:nvPr/>
        </p:nvSpPr>
        <p:spPr>
          <a:xfrm rot="5400000">
            <a:off x="6219360" y="3306960"/>
            <a:ext cx="727560" cy="533520"/>
          </a:xfrm>
          <a:custGeom>
            <a:rect b="b" l="l" r="r" t="t"/>
            <a:pathLst>
              <a:path extrusionOk="0" h="1484" w="2023">
                <a:moveTo>
                  <a:pt x="0" y="370"/>
                </a:moveTo>
                <a:lnTo>
                  <a:pt x="1280" y="370"/>
                </a:lnTo>
                <a:lnTo>
                  <a:pt x="1280" y="0"/>
                </a:lnTo>
                <a:lnTo>
                  <a:pt x="2022" y="741"/>
                </a:lnTo>
                <a:lnTo>
                  <a:pt x="1280" y="1483"/>
                </a:lnTo>
                <a:lnTo>
                  <a:pt x="1280" y="1112"/>
                </a:lnTo>
                <a:lnTo>
                  <a:pt x="0" y="1112"/>
                </a:lnTo>
                <a:lnTo>
                  <a:pt x="0" y="370"/>
                </a:lnTo>
              </a:path>
            </a:pathLst>
          </a:custGeom>
          <a:solidFill>
            <a:srgbClr val="FFFFFF"/>
          </a:solidFill>
          <a:ln cap="flat" cmpd="sng" w="507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8" name="Google Shape;358;p70"/>
          <p:cNvSpPr/>
          <p:nvPr/>
        </p:nvSpPr>
        <p:spPr>
          <a:xfrm>
            <a:off x="1249560" y="4183920"/>
            <a:ext cx="3129120" cy="1908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9" name="Google Shape;359;p70"/>
          <p:cNvSpPr/>
          <p:nvPr/>
        </p:nvSpPr>
        <p:spPr>
          <a:xfrm>
            <a:off x="5019120" y="4183920"/>
            <a:ext cx="3129120" cy="1908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0" name="Google Shape;360;p70"/>
          <p:cNvSpPr txBox="1"/>
          <p:nvPr/>
        </p:nvSpPr>
        <p:spPr>
          <a:xfrm>
            <a:off x="5049360" y="4183920"/>
            <a:ext cx="3058200" cy="175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Het verlaagd de piek van de lineaire hoofdversnelling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0"/>
          <p:cNvSpPr txBox="1"/>
          <p:nvPr/>
        </p:nvSpPr>
        <p:spPr>
          <a:xfrm>
            <a:off x="1249560" y="4257000"/>
            <a:ext cx="3129120" cy="17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Het verdeelt de kracht over een groter oppervlak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70"/>
          <p:cNvCxnSpPr/>
          <p:nvPr/>
        </p:nvCxnSpPr>
        <p:spPr>
          <a:xfrm>
            <a:off x="2354760" y="1012680"/>
            <a:ext cx="454428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C2F1C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8" name="Google Shape;368;p71"/>
          <p:cNvSpPr txBox="1"/>
          <p:nvPr/>
        </p:nvSpPr>
        <p:spPr>
          <a:xfrm>
            <a:off x="2838960" y="50580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Hoe werkt een fietshelm?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71"/>
          <p:cNvCxnSpPr/>
          <p:nvPr/>
        </p:nvCxnSpPr>
        <p:spPr>
          <a:xfrm>
            <a:off x="3797640" y="1012680"/>
            <a:ext cx="454392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70" name="Google Shape;37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080" y="68760"/>
            <a:ext cx="9984600" cy="5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71"/>
          <p:cNvSpPr/>
          <p:nvPr/>
        </p:nvSpPr>
        <p:spPr>
          <a:xfrm>
            <a:off x="3099240" y="1815480"/>
            <a:ext cx="5874120" cy="3316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 w="69825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372" name="Google Shape;372;p71"/>
          <p:cNvCxnSpPr/>
          <p:nvPr/>
        </p:nvCxnSpPr>
        <p:spPr>
          <a:xfrm>
            <a:off x="727560" y="776880"/>
            <a:ext cx="360" cy="556524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3" name="Google Shape;373;p71"/>
          <p:cNvCxnSpPr/>
          <p:nvPr/>
        </p:nvCxnSpPr>
        <p:spPr>
          <a:xfrm flipH="1">
            <a:off x="727560" y="6341760"/>
            <a:ext cx="104716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tekst, schermopname, diagram, lijn&#10;&#10;Door AI gegenereerde inhoud is mogelijk onjuist." id="378" name="Google Shape;37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40" y="1644120"/>
            <a:ext cx="4791960" cy="3570120"/>
          </a:xfrm>
          <a:prstGeom prst="rect">
            <a:avLst/>
          </a:prstGeom>
          <a:noFill/>
          <a:ln cap="flat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>
              <a:srgbClr val="000000">
                <a:alpha val="45098"/>
              </a:srgbClr>
            </a:outerShdw>
          </a:effectLst>
        </p:spPr>
      </p:pic>
      <p:sp>
        <p:nvSpPr>
          <p:cNvPr id="379" name="Google Shape;379;p72"/>
          <p:cNvSpPr txBox="1"/>
          <p:nvPr/>
        </p:nvSpPr>
        <p:spPr>
          <a:xfrm>
            <a:off x="5267160" y="50580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Hoe werkt een fietshelm?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72"/>
          <p:cNvCxnSpPr/>
          <p:nvPr/>
        </p:nvCxnSpPr>
        <p:spPr>
          <a:xfrm>
            <a:off x="6235920" y="1012680"/>
            <a:ext cx="454428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1" name="Google Shape;381;p72"/>
          <p:cNvSpPr/>
          <p:nvPr/>
        </p:nvSpPr>
        <p:spPr>
          <a:xfrm>
            <a:off x="6235920" y="1597680"/>
            <a:ext cx="4543920" cy="136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82" name="Google Shape;382;p72"/>
          <p:cNvSpPr/>
          <p:nvPr/>
        </p:nvSpPr>
        <p:spPr>
          <a:xfrm>
            <a:off x="6235920" y="3812400"/>
            <a:ext cx="4543920" cy="136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Na een val is de helm beschadigd = helm vervangen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2"/>
          <p:cNvSpPr txBox="1"/>
          <p:nvPr/>
        </p:nvSpPr>
        <p:spPr>
          <a:xfrm>
            <a:off x="7995960" y="3068280"/>
            <a:ext cx="1260000" cy="646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2"/>
          <p:cNvSpPr txBox="1"/>
          <p:nvPr/>
        </p:nvSpPr>
        <p:spPr>
          <a:xfrm>
            <a:off x="6252480" y="1842480"/>
            <a:ext cx="4543920" cy="707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piekversnellingen zijn 4,2 keer zo laag wanneer je een fietshelm draagt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buitenshuis, persoon, weg, Fietshelm&#10;&#10;Door AI gegenereerde inhoud is mogelijk onjuist." id="390" name="Google Shape;39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7320" y="1275480"/>
            <a:ext cx="3233880" cy="4307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672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73"/>
          <p:cNvSpPr txBox="1"/>
          <p:nvPr/>
        </p:nvSpPr>
        <p:spPr>
          <a:xfrm>
            <a:off x="1112040" y="50580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Bewijs dat een fietshelm werkt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73"/>
          <p:cNvCxnSpPr/>
          <p:nvPr/>
        </p:nvCxnSpPr>
        <p:spPr>
          <a:xfrm>
            <a:off x="1603080" y="1012680"/>
            <a:ext cx="557028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4" name="Google Shape;394;p73"/>
          <p:cNvSpPr/>
          <p:nvPr/>
        </p:nvSpPr>
        <p:spPr>
          <a:xfrm>
            <a:off x="634680" y="1376280"/>
            <a:ext cx="1946160" cy="42058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5" name="Google Shape;395;p73"/>
          <p:cNvSpPr/>
          <p:nvPr/>
        </p:nvSpPr>
        <p:spPr>
          <a:xfrm>
            <a:off x="5846760" y="1376280"/>
            <a:ext cx="1946160" cy="42058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6" name="Google Shape;396;p73"/>
          <p:cNvSpPr/>
          <p:nvPr/>
        </p:nvSpPr>
        <p:spPr>
          <a:xfrm>
            <a:off x="3240720" y="1376280"/>
            <a:ext cx="1946160" cy="42058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7" name="Google Shape;397;p73"/>
          <p:cNvSpPr txBox="1"/>
          <p:nvPr/>
        </p:nvSpPr>
        <p:spPr>
          <a:xfrm>
            <a:off x="634680" y="1376280"/>
            <a:ext cx="1946160" cy="3785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Fietshelmen verminderen hoofdletsels met 48% en ernstige hoofdletsels met 60% en het aantal fatale hoofdletsels met 71%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3"/>
          <p:cNvSpPr txBox="1"/>
          <p:nvPr/>
        </p:nvSpPr>
        <p:spPr>
          <a:xfrm>
            <a:off x="3265920" y="1376280"/>
            <a:ext cx="1946160" cy="3477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Volgens internationale onderzoeken neemt het risico op hersenletsel aanzienlijk af, met een daling tot wel 88%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3"/>
          <p:cNvSpPr txBox="1"/>
          <p:nvPr/>
        </p:nvSpPr>
        <p:spPr>
          <a:xfrm>
            <a:off x="5856840" y="1437480"/>
            <a:ext cx="1946160" cy="40935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D3512"/>
                </a:solidFill>
                <a:latin typeface="Arial"/>
                <a:ea typeface="Arial"/>
                <a:cs typeface="Arial"/>
                <a:sym typeface="Arial"/>
              </a:rPr>
              <a:t>Volgens onderzoek is helmgebruik één van de meest effectieve manieren om letsels bij fietsers te voorkomen en de  verkeers-veiligheid te verhogen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4"/>
          <p:cNvSpPr txBox="1"/>
          <p:nvPr/>
        </p:nvSpPr>
        <p:spPr>
          <a:xfrm>
            <a:off x="2838960" y="50580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Hoe zet je een fietshelm goed op?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74"/>
          <p:cNvCxnSpPr/>
          <p:nvPr/>
        </p:nvCxnSpPr>
        <p:spPr>
          <a:xfrm>
            <a:off x="3025440" y="1022760"/>
            <a:ext cx="611892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7" name="Google Shape;407;p74"/>
          <p:cNvSpPr/>
          <p:nvPr/>
        </p:nvSpPr>
        <p:spPr>
          <a:xfrm>
            <a:off x="802800" y="1450800"/>
            <a:ext cx="182880" cy="1028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08" name="Google Shape;408;p74"/>
          <p:cNvSpPr/>
          <p:nvPr/>
        </p:nvSpPr>
        <p:spPr>
          <a:xfrm>
            <a:off x="1554480" y="2720880"/>
            <a:ext cx="182880" cy="1028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09" name="Google Shape;409;p74"/>
          <p:cNvSpPr/>
          <p:nvPr/>
        </p:nvSpPr>
        <p:spPr>
          <a:xfrm>
            <a:off x="2387520" y="3990960"/>
            <a:ext cx="182880" cy="1028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10" name="Google Shape;410;p74"/>
          <p:cNvSpPr/>
          <p:nvPr/>
        </p:nvSpPr>
        <p:spPr>
          <a:xfrm>
            <a:off x="3363120" y="5261040"/>
            <a:ext cx="182880" cy="1028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11" name="Google Shape;411;p74"/>
          <p:cNvSpPr txBox="1"/>
          <p:nvPr/>
        </p:nvSpPr>
        <p:spPr>
          <a:xfrm>
            <a:off x="0" y="1450800"/>
            <a:ext cx="70092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5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4"/>
          <p:cNvSpPr txBox="1"/>
          <p:nvPr/>
        </p:nvSpPr>
        <p:spPr>
          <a:xfrm>
            <a:off x="751680" y="2710080"/>
            <a:ext cx="70092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5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4"/>
          <p:cNvSpPr txBox="1"/>
          <p:nvPr/>
        </p:nvSpPr>
        <p:spPr>
          <a:xfrm>
            <a:off x="1595160" y="4060440"/>
            <a:ext cx="70092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5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4"/>
          <p:cNvSpPr txBox="1"/>
          <p:nvPr/>
        </p:nvSpPr>
        <p:spPr>
          <a:xfrm>
            <a:off x="2570400" y="5261040"/>
            <a:ext cx="70092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5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4"/>
          <p:cNvSpPr txBox="1"/>
          <p:nvPr/>
        </p:nvSpPr>
        <p:spPr>
          <a:xfrm>
            <a:off x="1102320" y="1450800"/>
            <a:ext cx="7686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CHECKEN VAN DE OGEN: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Kijk omhoog - zie je de rand van je helm?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rand moet 1-2 vingers boven je wenkbrauwen zitten.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4"/>
          <p:cNvSpPr txBox="1"/>
          <p:nvPr/>
        </p:nvSpPr>
        <p:spPr>
          <a:xfrm>
            <a:off x="1945800" y="2765160"/>
            <a:ext cx="627876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CHECKEN VAN DE OREN: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riempjes moeten een V-vorm maken precies onder je oren wanneer de helm vast zit.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4"/>
          <p:cNvSpPr txBox="1"/>
          <p:nvPr/>
        </p:nvSpPr>
        <p:spPr>
          <a:xfrm>
            <a:off x="2661840" y="3946680"/>
            <a:ext cx="678672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CHECKEN VAN DE MOND: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je mond zo wijd mogelijk - voel je de helm strakker worden? Dan zit hij perfect.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4"/>
          <p:cNvSpPr txBox="1"/>
          <p:nvPr/>
        </p:nvSpPr>
        <p:spPr>
          <a:xfrm>
            <a:off x="3637440" y="5261040"/>
            <a:ext cx="7686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CHECKEN VAN DE POSITIE: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helm moet recht en horizontaal op je hoofd zitten,                                                         niet naar achteren gekanteld.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fbeelding met Persoonlijke beschermmiddelen, hoofdtooi, helm, sportuitrusting&#10;&#10;Door AI gegenereerde inhoud is mogelijk onjuist." id="419" name="Google Shape;419;p74"/>
          <p:cNvPicPr preferRelativeResize="0"/>
          <p:nvPr/>
        </p:nvPicPr>
        <p:blipFill rotWithShape="1">
          <a:blip r:embed="rId3">
            <a:alphaModFix/>
          </a:blip>
          <a:srcRect b="0" l="0" r="51962" t="0"/>
          <a:stretch/>
        </p:blipFill>
        <p:spPr>
          <a:xfrm>
            <a:off x="9839880" y="1314720"/>
            <a:ext cx="2075760" cy="2180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Persoonlijke beschermmiddelen, hoofdtooi, helm, sportuitrusting&#10;&#10;Door AI gegenereerde inhoud is mogelijk onjuist." id="420" name="Google Shape;420;p74"/>
          <p:cNvPicPr preferRelativeResize="0"/>
          <p:nvPr/>
        </p:nvPicPr>
        <p:blipFill rotWithShape="1">
          <a:blip r:embed="rId3">
            <a:alphaModFix/>
          </a:blip>
          <a:srcRect b="0" l="48303" r="0" t="0"/>
          <a:stretch/>
        </p:blipFill>
        <p:spPr>
          <a:xfrm>
            <a:off x="9839880" y="3516840"/>
            <a:ext cx="2075760" cy="202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5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C2F1C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28" name="Google Shape;428;p75"/>
          <p:cNvSpPr txBox="1"/>
          <p:nvPr/>
        </p:nvSpPr>
        <p:spPr>
          <a:xfrm>
            <a:off x="2838960" y="505800"/>
            <a:ext cx="65138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Verkeersregels voor fietsers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75"/>
          <p:cNvCxnSpPr/>
          <p:nvPr/>
        </p:nvCxnSpPr>
        <p:spPr>
          <a:xfrm>
            <a:off x="3606840" y="1022760"/>
            <a:ext cx="502956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30" name="Google Shape;43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75"/>
          <p:cNvCxnSpPr/>
          <p:nvPr/>
        </p:nvCxnSpPr>
        <p:spPr>
          <a:xfrm>
            <a:off x="727560" y="776880"/>
            <a:ext cx="360" cy="556524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32" name="Google Shape;432;p75"/>
          <p:cNvCxnSpPr/>
          <p:nvPr/>
        </p:nvCxnSpPr>
        <p:spPr>
          <a:xfrm flipH="1">
            <a:off x="727560" y="6341760"/>
            <a:ext cx="104716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33" name="Google Shape;433;p75"/>
          <p:cNvSpPr/>
          <p:nvPr/>
        </p:nvSpPr>
        <p:spPr>
          <a:xfrm>
            <a:off x="1535400" y="163728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5"/>
          <p:cNvSpPr/>
          <p:nvPr/>
        </p:nvSpPr>
        <p:spPr>
          <a:xfrm>
            <a:off x="3875400" y="163980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5"/>
          <p:cNvSpPr/>
          <p:nvPr/>
        </p:nvSpPr>
        <p:spPr>
          <a:xfrm>
            <a:off x="1535400" y="397548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5"/>
          <p:cNvSpPr/>
          <p:nvPr/>
        </p:nvSpPr>
        <p:spPr>
          <a:xfrm>
            <a:off x="6355800" y="397692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5"/>
          <p:cNvSpPr/>
          <p:nvPr/>
        </p:nvSpPr>
        <p:spPr>
          <a:xfrm>
            <a:off x="6365520" y="163368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5"/>
          <p:cNvSpPr/>
          <p:nvPr/>
        </p:nvSpPr>
        <p:spPr>
          <a:xfrm>
            <a:off x="8718120" y="1623600"/>
            <a:ext cx="475200" cy="4546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50750">
            <a:solidFill>
              <a:srgbClr val="0D351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5"/>
          <p:cNvSpPr txBox="1"/>
          <p:nvPr/>
        </p:nvSpPr>
        <p:spPr>
          <a:xfrm>
            <a:off x="1535400" y="2137680"/>
            <a:ext cx="1959120" cy="83088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Rijd altijd MET het verkeer mee, aan de rechterkant.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5"/>
          <p:cNvSpPr txBox="1"/>
          <p:nvPr/>
        </p:nvSpPr>
        <p:spPr>
          <a:xfrm>
            <a:off x="3929760" y="2132640"/>
            <a:ext cx="1959120" cy="10771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Fiets niet in het donker zonder verlichting en reflectoren.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5"/>
          <p:cNvSpPr txBox="1"/>
          <p:nvPr/>
        </p:nvSpPr>
        <p:spPr>
          <a:xfrm>
            <a:off x="6343560" y="2137680"/>
            <a:ext cx="1959120" cy="10771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Gebruik fietspaden of fietsstroken waar mogelijk, niet op het voetpad.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5"/>
          <p:cNvSpPr txBox="1"/>
          <p:nvPr/>
        </p:nvSpPr>
        <p:spPr>
          <a:xfrm>
            <a:off x="8762040" y="2137680"/>
            <a:ext cx="1959120" cy="10771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Kijk links-rechts-links voordat je oversteekt bij kruispunten.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5"/>
          <p:cNvSpPr txBox="1"/>
          <p:nvPr/>
        </p:nvSpPr>
        <p:spPr>
          <a:xfrm>
            <a:off x="2180160" y="4430520"/>
            <a:ext cx="35564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Maak oogcontact met automobilisten zodat ze je zien.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5"/>
          <p:cNvSpPr txBox="1"/>
          <p:nvPr/>
        </p:nvSpPr>
        <p:spPr>
          <a:xfrm>
            <a:off x="7014960" y="4430520"/>
            <a:ext cx="3556440" cy="584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 bij alle stopborden en rode lichten, behandel ze net als auto's.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5"/>
          <p:cNvSpPr txBox="1"/>
          <p:nvPr/>
        </p:nvSpPr>
        <p:spPr>
          <a:xfrm>
            <a:off x="2000880" y="1633680"/>
            <a:ext cx="155124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RIJD RECHTS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5"/>
          <p:cNvSpPr txBox="1"/>
          <p:nvPr/>
        </p:nvSpPr>
        <p:spPr>
          <a:xfrm>
            <a:off x="4345920" y="1638360"/>
            <a:ext cx="163008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VERLICHTING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5"/>
          <p:cNvSpPr txBox="1"/>
          <p:nvPr/>
        </p:nvSpPr>
        <p:spPr>
          <a:xfrm>
            <a:off x="6813720" y="1638360"/>
            <a:ext cx="1551240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  FIETSPAD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5"/>
          <p:cNvSpPr txBox="1"/>
          <p:nvPr/>
        </p:nvSpPr>
        <p:spPr>
          <a:xfrm>
            <a:off x="9195480" y="1603080"/>
            <a:ext cx="163008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OVERSTEKEN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5"/>
          <p:cNvSpPr txBox="1"/>
          <p:nvPr/>
        </p:nvSpPr>
        <p:spPr>
          <a:xfrm>
            <a:off x="2788920" y="3984120"/>
            <a:ext cx="246132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MAAK OOGCONTACT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5"/>
          <p:cNvSpPr txBox="1"/>
          <p:nvPr/>
        </p:nvSpPr>
        <p:spPr>
          <a:xfrm>
            <a:off x="7324920" y="3988800"/>
            <a:ext cx="299880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8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STOPBORDEN EN LICHTEN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6"/>
          <p:cNvSpPr txBox="1"/>
          <p:nvPr/>
        </p:nvSpPr>
        <p:spPr>
          <a:xfrm>
            <a:off x="1848600" y="505800"/>
            <a:ext cx="8494920" cy="58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Praktische tips die je elke dag kan gebruiken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76"/>
          <p:cNvCxnSpPr/>
          <p:nvPr/>
        </p:nvCxnSpPr>
        <p:spPr>
          <a:xfrm>
            <a:off x="1976400" y="1022760"/>
            <a:ext cx="7984080" cy="360"/>
          </a:xfrm>
          <a:prstGeom prst="straightConnector1">
            <a:avLst/>
          </a:prstGeom>
          <a:noFill/>
          <a:ln cap="flat" cmpd="sng" w="38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8" name="Google Shape;458;p76"/>
          <p:cNvCxnSpPr/>
          <p:nvPr/>
        </p:nvCxnSpPr>
        <p:spPr>
          <a:xfrm>
            <a:off x="727560" y="776880"/>
            <a:ext cx="360" cy="556524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9" name="Google Shape;459;p76"/>
          <p:cNvCxnSpPr/>
          <p:nvPr/>
        </p:nvCxnSpPr>
        <p:spPr>
          <a:xfrm flipH="1">
            <a:off x="727560" y="6341760"/>
            <a:ext cx="104716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0" name="Google Shape;460;p76"/>
          <p:cNvSpPr/>
          <p:nvPr/>
        </p:nvSpPr>
        <p:spPr>
          <a:xfrm>
            <a:off x="1378800" y="1461960"/>
            <a:ext cx="2210040" cy="2598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1" name="Google Shape;461;p76"/>
          <p:cNvSpPr/>
          <p:nvPr/>
        </p:nvSpPr>
        <p:spPr>
          <a:xfrm>
            <a:off x="3886200" y="1461960"/>
            <a:ext cx="2210040" cy="2598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2" name="Google Shape;462;p76"/>
          <p:cNvSpPr/>
          <p:nvPr/>
        </p:nvSpPr>
        <p:spPr>
          <a:xfrm>
            <a:off x="6393240" y="1461960"/>
            <a:ext cx="2210040" cy="2598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3" name="Google Shape;463;p76"/>
          <p:cNvSpPr/>
          <p:nvPr/>
        </p:nvSpPr>
        <p:spPr>
          <a:xfrm>
            <a:off x="8854920" y="1459800"/>
            <a:ext cx="2210040" cy="2598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4" name="Google Shape;464;p76"/>
          <p:cNvSpPr/>
          <p:nvPr/>
        </p:nvSpPr>
        <p:spPr>
          <a:xfrm>
            <a:off x="1378800" y="4401000"/>
            <a:ext cx="4717080" cy="136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5" name="Google Shape;465;p76"/>
          <p:cNvSpPr/>
          <p:nvPr/>
        </p:nvSpPr>
        <p:spPr>
          <a:xfrm>
            <a:off x="6393240" y="4401000"/>
            <a:ext cx="4717080" cy="136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E291"/>
          </a:solidFill>
          <a:ln cap="flat" cmpd="sng" w="38150">
            <a:solidFill>
              <a:srgbClr val="196B2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6" name="Google Shape;466;p76"/>
          <p:cNvSpPr/>
          <p:nvPr/>
        </p:nvSpPr>
        <p:spPr>
          <a:xfrm>
            <a:off x="1469880" y="155484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7" name="Google Shape;467;p76"/>
          <p:cNvSpPr/>
          <p:nvPr/>
        </p:nvSpPr>
        <p:spPr>
          <a:xfrm>
            <a:off x="3979440" y="155484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8" name="Google Shape;468;p76"/>
          <p:cNvSpPr/>
          <p:nvPr/>
        </p:nvSpPr>
        <p:spPr>
          <a:xfrm>
            <a:off x="6475680" y="154008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9" name="Google Shape;469;p76"/>
          <p:cNvSpPr/>
          <p:nvPr/>
        </p:nvSpPr>
        <p:spPr>
          <a:xfrm>
            <a:off x="8958960" y="153972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0" name="Google Shape;470;p76"/>
          <p:cNvSpPr/>
          <p:nvPr/>
        </p:nvSpPr>
        <p:spPr>
          <a:xfrm>
            <a:off x="1469880" y="447876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1" name="Google Shape;471;p76"/>
          <p:cNvSpPr/>
          <p:nvPr/>
        </p:nvSpPr>
        <p:spPr>
          <a:xfrm>
            <a:off x="6475680" y="4478760"/>
            <a:ext cx="452160" cy="440640"/>
          </a:xfrm>
          <a:custGeom>
            <a:rect b="b" l="l" r="r" t="t"/>
            <a:pathLst>
              <a:path extrusionOk="0" h="21600" w="22164">
                <a:moveTo>
                  <a:pt x="0" y="10800"/>
                </a:moveTo>
                <a:close/>
              </a:path>
            </a:pathLst>
          </a:custGeom>
          <a:solidFill>
            <a:srgbClr val="FFFFFF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Afbeelding met symbool, cirkel, logo, Graphics&#10;&#10;Door AI gegenereerde inhoud is mogelijk onjuist." id="472" name="Google Shape;47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5280" y="1639080"/>
            <a:ext cx="261720" cy="26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wit, ontwerp&#10;&#10;Door AI gegenereerde inhoud is mogelijk onjuist." id="473" name="Google Shape;473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4840" y="1646640"/>
            <a:ext cx="281520" cy="244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symbool, clipart, logo, cirkel&#10;&#10;Door AI gegenereerde inhoud is mogelijk onjuist." id="474" name="Google Shape;474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5440" y="1648080"/>
            <a:ext cx="342000" cy="20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schets, tekening, clipart, ontwerp&#10;&#10;Door AI gegenereerde inhoud is mogelijk onjuist." id="475" name="Google Shape;475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9760" y="1603440"/>
            <a:ext cx="259920" cy="303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zaag, gereedschap&#10;&#10;Door AI gegenereerde inhoud is mogelijk onjuist." id="476" name="Google Shape;476;p76"/>
          <p:cNvPicPr preferRelativeResize="0"/>
          <p:nvPr/>
        </p:nvPicPr>
        <p:blipFill rotWithShape="1">
          <a:blip r:embed="rId8">
            <a:alphaModFix/>
          </a:blip>
          <a:srcRect b="0" l="6461" r="0" t="0"/>
          <a:stretch/>
        </p:blipFill>
        <p:spPr>
          <a:xfrm>
            <a:off x="1565280" y="4562280"/>
            <a:ext cx="247320" cy="25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schets, wit&#10;&#10;Door AI gegenereerde inhoud is mogelijk onjuist." id="477" name="Google Shape;477;p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9120" y="4579560"/>
            <a:ext cx="305640" cy="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6"/>
          <p:cNvSpPr txBox="1"/>
          <p:nvPr/>
        </p:nvSpPr>
        <p:spPr>
          <a:xfrm>
            <a:off x="1774800" y="1494360"/>
            <a:ext cx="2016720" cy="707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Controleer je fiets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76"/>
          <p:cNvSpPr txBox="1"/>
          <p:nvPr/>
        </p:nvSpPr>
        <p:spPr>
          <a:xfrm>
            <a:off x="4280760" y="1484640"/>
            <a:ext cx="2016720" cy="707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Geen losse kledij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6"/>
          <p:cNvSpPr txBox="1"/>
          <p:nvPr/>
        </p:nvSpPr>
        <p:spPr>
          <a:xfrm>
            <a:off x="6763320" y="1538640"/>
            <a:ext cx="2016720" cy="399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Blijf alert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6"/>
          <p:cNvSpPr txBox="1"/>
          <p:nvPr/>
        </p:nvSpPr>
        <p:spPr>
          <a:xfrm>
            <a:off x="9201600" y="1460160"/>
            <a:ext cx="2016720" cy="707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Vermijd duisternis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76"/>
          <p:cNvSpPr txBox="1"/>
          <p:nvPr/>
        </p:nvSpPr>
        <p:spPr>
          <a:xfrm>
            <a:off x="2244240" y="4498920"/>
            <a:ext cx="3007440" cy="39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Draag opvallende kledij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76"/>
          <p:cNvSpPr txBox="1"/>
          <p:nvPr/>
        </p:nvSpPr>
        <p:spPr>
          <a:xfrm>
            <a:off x="7246440" y="4503960"/>
            <a:ext cx="3008520" cy="7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2000" u="none" cap="none" strike="noStrike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Helmgebruik is verplicht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76"/>
          <p:cNvSpPr txBox="1"/>
          <p:nvPr/>
        </p:nvSpPr>
        <p:spPr>
          <a:xfrm>
            <a:off x="1378800" y="2236680"/>
            <a:ext cx="221004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Controleer voor elke fietsrit je remmen, versnellingen en banden om ongelukken te voorkomen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6"/>
          <p:cNvSpPr txBox="1"/>
          <p:nvPr/>
        </p:nvSpPr>
        <p:spPr>
          <a:xfrm>
            <a:off x="3908160" y="2222280"/>
            <a:ext cx="2210040" cy="20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Draag geen losse kleding, sjaals of veters die in je ketting kunnen komen, maar kies aansluitende kleding voor veiligheid.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6"/>
          <p:cNvSpPr txBox="1"/>
          <p:nvPr/>
        </p:nvSpPr>
        <p:spPr>
          <a:xfrm>
            <a:off x="6387120" y="2219040"/>
            <a:ext cx="2210040" cy="181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Blijf alert en let goed op auto's, vrachtwagens en andere fietsers om je heen. Zet je muziek niet te luid en zit niet op je GSM.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6"/>
          <p:cNvSpPr txBox="1"/>
          <p:nvPr/>
        </p:nvSpPr>
        <p:spPr>
          <a:xfrm>
            <a:off x="8856360" y="2202480"/>
            <a:ext cx="2210040" cy="20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Vermijd fietsen bij schemering of in het donker zonder goede verlichting. Zichtbaarheid is essentieel voor je veiligheid.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76"/>
          <p:cNvSpPr txBox="1"/>
          <p:nvPr/>
        </p:nvSpPr>
        <p:spPr>
          <a:xfrm>
            <a:off x="1391400" y="4944960"/>
            <a:ext cx="4726800" cy="11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Draag heldere kleuren en gebruik reflecterende materialen zodat je opvalt, vooral bij weinig licht of druk verkeer.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6"/>
          <p:cNvSpPr txBox="1"/>
          <p:nvPr/>
        </p:nvSpPr>
        <p:spPr>
          <a:xfrm>
            <a:off x="6391080" y="4949640"/>
            <a:ext cx="4726800" cy="11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Draag ALTIJD je helm zonder uitzonderingen, ook niet voor korte ritjes. Zo bescherm je je hoofd bij iedere val.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Kleurrijkheid, groen, Graphics, geel&#10;&#10;Door AI gegenereerde inhoud is mogelijk onjuist." id="494" name="Google Shape;49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77"/>
          <p:cNvSpPr txBox="1"/>
          <p:nvPr/>
        </p:nvSpPr>
        <p:spPr>
          <a:xfrm>
            <a:off x="2838960" y="2844360"/>
            <a:ext cx="6513840" cy="646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Bedankt voor je aandacht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en beschrijving beschikbaar." id="496" name="Google Shape;496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320" y="3696480"/>
            <a:ext cx="2085480" cy="2077920"/>
          </a:xfrm>
          <a:prstGeom prst="rect">
            <a:avLst/>
          </a:prstGeom>
          <a:noFill/>
          <a:ln cap="flat" cmpd="sng" w="76300">
            <a:solidFill>
              <a:srgbClr val="292929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8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F1C8"/>
          </a:solidFill>
          <a:ln cap="flat" cmpd="sng" w="19075">
            <a:solidFill>
              <a:srgbClr val="C2F1C8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02" name="Google Shape;502;p78"/>
          <p:cNvCxnSpPr/>
          <p:nvPr/>
        </p:nvCxnSpPr>
        <p:spPr>
          <a:xfrm>
            <a:off x="727560" y="776880"/>
            <a:ext cx="360" cy="556524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3" name="Google Shape;503;p78"/>
          <p:cNvCxnSpPr/>
          <p:nvPr/>
        </p:nvCxnSpPr>
        <p:spPr>
          <a:xfrm flipH="1">
            <a:off x="727560" y="6341760"/>
            <a:ext cx="10471680" cy="360"/>
          </a:xfrm>
          <a:prstGeom prst="straightConnector1">
            <a:avLst/>
          </a:prstGeom>
          <a:noFill/>
          <a:ln cap="flat" cmpd="sng" w="31675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4" name="Google Shape;504;p78"/>
          <p:cNvSpPr txBox="1"/>
          <p:nvPr/>
        </p:nvSpPr>
        <p:spPr>
          <a:xfrm>
            <a:off x="884880" y="2752920"/>
            <a:ext cx="3785400" cy="9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BE" sz="4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Referenties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78"/>
          <p:cNvSpPr txBox="1"/>
          <p:nvPr/>
        </p:nvSpPr>
        <p:spPr>
          <a:xfrm>
            <a:off x="4375440" y="601920"/>
            <a:ext cx="7787160" cy="550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Statbel,</a:t>
            </a:r>
            <a:r>
              <a:rPr b="1" i="1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Verkeersongevallen 2024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Westerhuis &amp; Al, 2024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https://pmc.ncbi.nlm.nih.gov/articles/PMC4375775/?fbclid=IwY2xjawOeiItleHRuA2FlbQIxMABicmlkETFYbGFaaVNKbERkWUxPME9Yc3J0YwZhcHBfaWQQMjIyMDM5MTc4ODIwMDg5MgABHpf-4B_LkatSYEzsN_dPPE4x_Hh-0Exp9zvu4UMgMDQ62EdI8uGf05emdJSN_aem_G1rKxQYDPRnqT6F_txQiTw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https://pmc.ncbi.nlm.nih.gov/articles/PMC1067536/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https://pmc.ncbi.nlm.nih.gov/articles/PMC12607080/?utm_source=chatgpt.com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https://www.sciencedirect.com/science/article/pii/S000145751400061X?via%3Dihub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https://www.sciencedirect.com/science/article/pii/S0001457518301301</a:t>
            </a:r>
            <a:r>
              <a:rPr b="1" i="0" lang="nl-BE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https://pubmed.ncbi.nlm.nih.gov/10796827/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1" i="0" lang="nl-BE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bestat.statbel.fgov.be/bestat/crosstable.xhtml?view=9090f429-32f6-40c3-a685-04cef7b6b0f1&amp;fbclid=IwY2xjawQBSxNleHRuA2FlbQIxMABicmlkETFYbGFaaVNKbERkWUxPME9Yc3J0YwZhcHBfaWQQMjIyMDM5MTc4ODIwMDg5MgABHq_nOVF1QZ7jajbVvkTaZzoIZKvronE6iR5CrX_81b9OtvrB0cPYqaTFWrhH_aem_FnbVJ43SEwb21pJwxrULu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7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0"/>
            <a:ext cx="3785400" cy="5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